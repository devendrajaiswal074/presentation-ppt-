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59" r:id="rId5"/>
    <p:sldId id="260" r:id="rId6"/>
    <p:sldId id="263" r:id="rId7"/>
    <p:sldId id="261" r:id="rId8"/>
    <p:sldId id="262" r:id="rId9"/>
    <p:sldId id="268" r:id="rId10"/>
    <p:sldId id="269" r:id="rId11"/>
    <p:sldId id="265" r:id="rId12"/>
    <p:sldId id="266" r:id="rId13"/>
    <p:sldId id="267" r:id="rId14"/>
    <p:sldId id="264"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sus"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14" autoAdjust="0"/>
  </p:normalViewPr>
  <p:slideViewPr>
    <p:cSldViewPr>
      <p:cViewPr>
        <p:scale>
          <a:sx n="70" d="100"/>
          <a:sy n="70" d="100"/>
        </p:scale>
        <p:origin x="-1810" y="-341"/>
      </p:cViewPr>
      <p:guideLst>
        <p:guide orient="horz" pos="2160"/>
        <p:guide pos="2880"/>
      </p:guideLst>
    </p:cSldViewPr>
  </p:slideViewPr>
  <p:outlineViewPr>
    <p:cViewPr>
      <p:scale>
        <a:sx n="33" d="100"/>
        <a:sy n="33" d="100"/>
      </p:scale>
      <p:origin x="0" y="6077"/>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3-11-08T18:47:48.435" idx="1">
    <p:pos x="10" y="10"/>
    <p:tex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95" name="Group 94"/>
          <p:cNvGrpSpPr/>
          <p:nvPr/>
        </p:nvGrpSpPr>
        <p:grpSpPr>
          <a:xfrm>
            <a:off x="0" y="-30477"/>
            <a:ext cx="9067800" cy="6889273"/>
            <a:chOff x="0" y="-30477"/>
            <a:chExt cx="9067800" cy="6889273"/>
          </a:xfrm>
        </p:grpSpPr>
        <p:cxnSp>
          <p:nvCxnSpPr>
            <p:cNvPr id="110" name="Straight Connector 109"/>
            <p:cNvCxnSpPr/>
            <p:nvPr/>
          </p:nvCxnSpPr>
          <p:spPr>
            <a:xfrm rot="16200000" flipH="1">
              <a:off x="-14478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rot="16200000" flipH="1">
              <a:off x="-16383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rot="5400000">
              <a:off x="-14859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rot="5400000">
              <a:off x="-3238500" y="3314700"/>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rot="16200000" flipH="1">
              <a:off x="-3314700" y="3314700"/>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rot="16200000" flipH="1">
              <a:off x="-1371600" y="2971800"/>
              <a:ext cx="6858000" cy="9144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rot="16200000" flipH="1">
              <a:off x="-2819400" y="3200400"/>
              <a:ext cx="6858000"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rot="5400000">
              <a:off x="-2705099" y="3238500"/>
              <a:ext cx="6858000"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rot="16200000" flipH="1">
              <a:off x="-2133600" y="3200400"/>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rot="16200000" flipH="1">
              <a:off x="-31242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rot="16200000" flipH="1">
              <a:off x="-1828799" y="3352799"/>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rot="16200000" flipH="1">
              <a:off x="-28194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rot="16200000" flipH="1">
              <a:off x="-2438400" y="3124200"/>
              <a:ext cx="6858000" cy="609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rot="5400000">
              <a:off x="-1731645" y="2722245"/>
              <a:ext cx="6858000"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rot="5400000">
              <a:off x="-1142048" y="3277552"/>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rot="5400000">
              <a:off x="-9144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rot="5400000">
              <a:off x="-1855470" y="3227070"/>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rot="16200000" flipH="1">
              <a:off x="-2643187" y="3252788"/>
              <a:ext cx="6858000"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rot="16200000" flipH="1">
              <a:off x="-1954530" y="3326130"/>
              <a:ext cx="6858000" cy="20574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rot="16200000" flipH="1">
              <a:off x="-23622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rot="16200000" flipH="1">
              <a:off x="-21336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rot="16200000" flipH="1">
              <a:off x="10668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a:xfrm rot="16200000" flipH="1">
              <a:off x="8763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rot="5400000">
              <a:off x="1028700" y="3238500"/>
              <a:ext cx="6858000" cy="3810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rot="5400000">
              <a:off x="-723900" y="3314700"/>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rot="16200000" flipH="1">
              <a:off x="-800100" y="3314700"/>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rot="5400000">
              <a:off x="-152400" y="3429000"/>
              <a:ext cx="6858000"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rot="16200000" flipH="1">
              <a:off x="-304800" y="3200400"/>
              <a:ext cx="6858000" cy="4572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rot="5400000">
              <a:off x="-190499" y="3238500"/>
              <a:ext cx="6858000" cy="3810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rot="16200000" flipH="1">
              <a:off x="381000" y="3200400"/>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p:cNvCxnSpPr/>
            <p:nvPr/>
          </p:nvCxnSpPr>
          <p:spPr>
            <a:xfrm rot="16200000" flipH="1">
              <a:off x="-6096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p:nvCxnSpPr>
          <p:spPr>
            <a:xfrm rot="16200000" flipH="1">
              <a:off x="685801" y="3352799"/>
              <a:ext cx="6858000" cy="152401"/>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p:cNvCxnSpPr/>
            <p:nvPr/>
          </p:nvCxnSpPr>
          <p:spPr>
            <a:xfrm rot="16200000" flipH="1">
              <a:off x="-3048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p:nvCxnSpPr>
          <p:spPr>
            <a:xfrm rot="5400000">
              <a:off x="-1028700" y="3314700"/>
              <a:ext cx="6858000"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rot="5400000">
              <a:off x="782955" y="2722245"/>
              <a:ext cx="6858000"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rot="5400000">
              <a:off x="1372552" y="3277552"/>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25" name="Straight Connector 224"/>
            <p:cNvCxnSpPr/>
            <p:nvPr/>
          </p:nvCxnSpPr>
          <p:spPr>
            <a:xfrm rot="5400000">
              <a:off x="16002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p:nvCxnSpPr>
          <p:spPr>
            <a:xfrm rot="5400000">
              <a:off x="659130" y="3227070"/>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7" name="Straight Connector 226"/>
            <p:cNvCxnSpPr/>
            <p:nvPr/>
          </p:nvCxnSpPr>
          <p:spPr>
            <a:xfrm rot="16200000" flipH="1">
              <a:off x="-128587" y="3252788"/>
              <a:ext cx="6858000"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p:nvCxnSpPr>
          <p:spPr>
            <a:xfrm rot="16200000" flipH="1">
              <a:off x="560070" y="3326130"/>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9" name="Straight Connector 228"/>
            <p:cNvCxnSpPr/>
            <p:nvPr/>
          </p:nvCxnSpPr>
          <p:spPr>
            <a:xfrm rot="16200000" flipH="1">
              <a:off x="1524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p:nvCxnSpPr>
          <p:spPr>
            <a:xfrm rot="16200000" flipH="1">
              <a:off x="3810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rot="16200000" flipH="1">
              <a:off x="2743200" y="3352801"/>
              <a:ext cx="6858000" cy="1524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rot="16200000" flipH="1">
              <a:off x="2095501" y="3238501"/>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9" name="Straight Connector 238"/>
            <p:cNvCxnSpPr/>
            <p:nvPr/>
          </p:nvCxnSpPr>
          <p:spPr>
            <a:xfrm rot="5400000">
              <a:off x="2705100" y="3238501"/>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p:nvCxnSpPr>
          <p:spPr>
            <a:xfrm rot="5400000">
              <a:off x="1828801" y="3276600"/>
              <a:ext cx="6857999" cy="3048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p:nvCxnSpPr>
          <p:spPr>
            <a:xfrm rot="16200000" flipH="1">
              <a:off x="1066800" y="3200402"/>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rot="16200000" flipH="1">
              <a:off x="2362201" y="3352800"/>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rot="5400000">
              <a:off x="2646045" y="2722246"/>
              <a:ext cx="6858000" cy="1413510"/>
            </a:xfrm>
            <a:prstGeom prst="line">
              <a:avLst/>
            </a:prstGeom>
            <a:ln>
              <a:solidFill>
                <a:schemeClr val="accent1">
                  <a:alpha val="56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rot="5400000">
              <a:off x="3048952" y="3277553"/>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rot="5400000">
              <a:off x="2895600" y="3276601"/>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rot="5400000">
              <a:off x="2388870" y="3227071"/>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rot="16200000" flipH="1">
              <a:off x="2236470" y="3326131"/>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rot="16200000" flipH="1">
              <a:off x="1752600" y="3352801"/>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rot="16200000" flipH="1">
              <a:off x="19812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rot="5400000">
              <a:off x="3467100" y="3314701"/>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rot="16200000" flipH="1">
              <a:off x="3467099" y="3314701"/>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2" name="Straight Connector 251"/>
            <p:cNvCxnSpPr/>
            <p:nvPr/>
          </p:nvCxnSpPr>
          <p:spPr>
            <a:xfrm rot="5400000">
              <a:off x="4038600" y="3429001"/>
              <a:ext cx="6858000"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rot="16200000" flipH="1">
              <a:off x="3886200" y="3200401"/>
              <a:ext cx="6858000"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rot="5400000">
              <a:off x="4000501" y="3238501"/>
              <a:ext cx="6858000"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rot="16200000" flipH="1">
              <a:off x="4572000" y="3200401"/>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rot="16200000" flipH="1">
              <a:off x="37338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rot="5400000">
              <a:off x="3619500" y="3314700"/>
              <a:ext cx="6858000"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rot="16200000" flipH="1">
              <a:off x="4214813" y="3252788"/>
              <a:ext cx="6858000"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p:cNvCxnSpPr/>
            <p:nvPr/>
          </p:nvCxnSpPr>
          <p:spPr>
            <a:xfrm rot="16200000" flipH="1">
              <a:off x="4751070" y="3326131"/>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p:nvCxnSpPr>
          <p:spPr>
            <a:xfrm rot="16200000" flipH="1">
              <a:off x="4343400" y="3352801"/>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rot="16200000" flipH="1">
              <a:off x="4572000" y="3352801"/>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rot="16200000" flipH="1">
              <a:off x="5257800" y="3352802"/>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p:nvCxnSpPr>
          <p:spPr>
            <a:xfrm rot="16200000" flipH="1">
              <a:off x="5067300" y="3238502"/>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rot="5400000">
              <a:off x="5219700" y="3238502"/>
              <a:ext cx="6858000" cy="3810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p:nvCxnSpPr>
          <p:spPr>
            <a:xfrm rot="16200000" flipH="1">
              <a:off x="4876801" y="3352801"/>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p:nvCxnSpPr>
          <p:spPr>
            <a:xfrm rot="5400000">
              <a:off x="5527994" y="3318196"/>
              <a:ext cx="6888479" cy="191133"/>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rot="5400000">
              <a:off x="4850130" y="3227072"/>
              <a:ext cx="6858000" cy="40386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rot="16200000" flipH="1">
              <a:off x="4751070" y="3326132"/>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8" name="Straight Connector 277"/>
            <p:cNvCxnSpPr/>
            <p:nvPr/>
          </p:nvCxnSpPr>
          <p:spPr>
            <a:xfrm rot="5400000">
              <a:off x="5562599" y="3429001"/>
              <a:ext cx="6858002" cy="1588"/>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p:cNvCxnSpPr/>
            <p:nvPr/>
          </p:nvCxnSpPr>
          <p:spPr>
            <a:xfrm rot="5400000">
              <a:off x="2552700" y="3390900"/>
              <a:ext cx="6858000" cy="76200"/>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p:cNvCxnSpPr/>
            <p:nvPr/>
          </p:nvCxnSpPr>
          <p:spPr>
            <a:xfrm rot="16200000" flipH="1">
              <a:off x="3048000" y="3352800"/>
              <a:ext cx="6858000" cy="1524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p:nvCxnSpPr>
          <p:spPr>
            <a:xfrm rot="16200000" flipH="1">
              <a:off x="3238500" y="3238500"/>
              <a:ext cx="6858000" cy="381000"/>
            </a:xfrm>
            <a:prstGeom prst="line">
              <a:avLst/>
            </a:prstGeom>
            <a:ln w="19050">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p:nvCxnSpPr>
          <p:spPr>
            <a:xfrm rot="5400000">
              <a:off x="2133600" y="3276600"/>
              <a:ext cx="6858000" cy="3048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p:nvCxnSpPr>
          <p:spPr>
            <a:xfrm rot="16200000" flipH="1">
              <a:off x="3148013" y="3252789"/>
              <a:ext cx="6858000"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rot="5400000">
              <a:off x="37719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p:nvCxnSpPr>
          <p:spPr>
            <a:xfrm rot="5400000">
              <a:off x="4229100" y="2933700"/>
              <a:ext cx="6858000" cy="990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p:nvPr/>
          </p:nvCxnSpPr>
          <p:spPr>
            <a:xfrm rot="16200000" flipH="1">
              <a:off x="1371600" y="3200403"/>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grpSp>
      <p:sp>
        <p:nvSpPr>
          <p:cNvPr id="4" name="Date Placeholder 3"/>
          <p:cNvSpPr>
            <a:spLocks noGrp="1"/>
          </p:cNvSpPr>
          <p:nvPr>
            <p:ph type="dt" sz="half" idx="10"/>
          </p:nvPr>
        </p:nvSpPr>
        <p:spPr/>
        <p:txBody>
          <a:bodyPr/>
          <a:lstStyle/>
          <a:p>
            <a:fld id="{6D882B3C-5561-4EEA-B9EC-6CF13351B29D}" type="datetimeFigureOut">
              <a:rPr lang="en-IN" smtClean="0"/>
              <a:t>08-11-2023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D5191F-9221-4594-AEB6-E672527B5F42}" type="slidenum">
              <a:rPr lang="en-IN" smtClean="0"/>
              <a:t>‹#›</a:t>
            </a:fld>
            <a:endParaRPr lang="en-IN"/>
          </a:p>
        </p:txBody>
      </p:sp>
      <p:sp>
        <p:nvSpPr>
          <p:cNvPr id="113" name="Rectangle 112"/>
          <p:cNvSpPr/>
          <p:nvPr/>
        </p:nvSpPr>
        <p:spPr>
          <a:xfrm>
            <a:off x="0" y="1905000"/>
            <a:ext cx="4953000" cy="3124200"/>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Tw Cen MT"/>
              <a:ea typeface="+mn-ea"/>
              <a:cs typeface="+mn-cs"/>
            </a:endParaRPr>
          </a:p>
        </p:txBody>
      </p:sp>
      <p:grpSp>
        <p:nvGrpSpPr>
          <p:cNvPr id="94" name="Group 93"/>
          <p:cNvGrpSpPr/>
          <p:nvPr/>
        </p:nvGrpSpPr>
        <p:grpSpPr>
          <a:xfrm>
            <a:off x="0" y="2057400"/>
            <a:ext cx="4801394" cy="2820988"/>
            <a:chOff x="0" y="2057400"/>
            <a:chExt cx="4801394" cy="2820988"/>
          </a:xfrm>
        </p:grpSpPr>
        <p:cxnSp>
          <p:nvCxnSpPr>
            <p:cNvPr id="117" name="Straight Connector 116"/>
            <p:cNvCxnSpPr/>
            <p:nvPr/>
          </p:nvCxnSpPr>
          <p:spPr>
            <a:xfrm>
              <a:off x="0" y="2057400"/>
              <a:ext cx="48006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a:off x="0" y="4876800"/>
              <a:ext cx="48006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rot="5400000">
              <a:off x="3391694" y="3467100"/>
              <a:ext cx="2818606"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228600" y="2130425"/>
            <a:ext cx="4419600" cy="1600327"/>
          </a:xfrm>
        </p:spPr>
        <p:txBody>
          <a:bodyPr anchor="b">
            <a:normAutofit/>
          </a:bodyPr>
          <a:lstStyle>
            <a:lvl1pPr algn="l">
              <a:defRPr sz="3600" b="1" cap="none" spc="40" baseline="0">
                <a:ln w="13335" cmpd="sng">
                  <a:solidFill>
                    <a:schemeClr val="accent1">
                      <a:lumMod val="50000"/>
                    </a:schemeClr>
                  </a:solidFill>
                  <a:prstDash val="solid"/>
                </a:ln>
                <a:solidFill>
                  <a:schemeClr val="accent6">
                    <a:tint val="1000"/>
                  </a:schemeClr>
                </a:solidFill>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28600" y="3733800"/>
            <a:ext cx="4419600" cy="1066800"/>
          </a:xfrm>
        </p:spPr>
        <p:txBody>
          <a:bodyPr>
            <a:normAutofit/>
          </a:bodyPr>
          <a:lstStyle>
            <a:lvl1pPr marL="0" indent="0" algn="l">
              <a:buNone/>
              <a:defRPr sz="22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D882B3C-5561-4EEA-B9EC-6CF13351B29D}" type="datetimeFigureOut">
              <a:rPr lang="en-IN" smtClean="0"/>
              <a:t>08-11-2023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D5191F-9221-4594-AEB6-E672527B5F42}"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grpSp>
        <p:nvGrpSpPr>
          <p:cNvPr id="7" name="Group 92"/>
          <p:cNvGrpSpPr/>
          <p:nvPr/>
        </p:nvGrpSpPr>
        <p:grpSpPr>
          <a:xfrm>
            <a:off x="1" y="-30478"/>
            <a:ext cx="9067799" cy="4846320"/>
            <a:chOff x="1" y="-30477"/>
            <a:chExt cx="9067799" cy="4526277"/>
          </a:xfrm>
        </p:grpSpPr>
        <p:cxnSp>
          <p:nvCxnSpPr>
            <p:cNvPr id="8" name="Straight Connector 7"/>
            <p:cNvCxnSpPr/>
            <p:nvPr/>
          </p:nvCxnSpPr>
          <p:spPr>
            <a:xfrm rot="16200000" flipH="1">
              <a:off x="-27166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46216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30976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206236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6200000" flipH="1">
              <a:off x="-2138565"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16200000" flipH="1">
              <a:off x="-195465" y="1785212"/>
              <a:ext cx="4505731" cy="9144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6200000" flipH="1">
              <a:off x="-1643265" y="2013812"/>
              <a:ext cx="4505731"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5400000">
              <a:off x="-1528964"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H="1">
              <a:off x="-957465" y="2013812"/>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6200000" flipH="1">
              <a:off x="-194806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H="1">
              <a:off x="-652664" y="2166211"/>
              <a:ext cx="4505731" cy="152401"/>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164326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6200000" flipH="1">
              <a:off x="-1790700" y="2019300"/>
              <a:ext cx="4495800" cy="4572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555510" y="1535657"/>
              <a:ext cx="4505731"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34087" y="2090964"/>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2617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a:off x="-67933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6200000" flipH="1">
              <a:off x="-1467052" y="2066200"/>
              <a:ext cx="4505731"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6200000" flipH="1">
              <a:off x="-77839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6200000" flipH="1">
              <a:off x="-118606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6200000" flipH="1">
              <a:off x="-95746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6200000" flipH="1">
              <a:off x="22429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6200000" flipH="1">
              <a:off x="20524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2204835" y="2051912"/>
              <a:ext cx="4505731" cy="3810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a:off x="45223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6200000" flipH="1">
              <a:off x="376035"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1023735" y="2242139"/>
              <a:ext cx="4505731"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6200000" flipH="1">
              <a:off x="871335" y="2013812"/>
              <a:ext cx="4505731" cy="4572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a:off x="985636"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16200000" flipH="1">
              <a:off x="1557135" y="2013812"/>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6200000" flipH="1">
              <a:off x="5665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6200000" flipH="1">
              <a:off x="1861936" y="2166211"/>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6200000" flipH="1">
              <a:off x="8713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5400000">
              <a:off x="147435" y="2128112"/>
              <a:ext cx="4505731"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1959090" y="1535657"/>
              <a:ext cx="4505731"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a:off x="2548687" y="2090964"/>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5400000">
              <a:off x="27763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a:off x="183526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16200000" flipH="1">
              <a:off x="1047548" y="2066200"/>
              <a:ext cx="4505731"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16200000" flipH="1">
              <a:off x="17362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16200000" flipH="1">
              <a:off x="13285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16200000" flipH="1">
              <a:off x="1557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16200000" flipH="1">
              <a:off x="3919335" y="2166212"/>
              <a:ext cx="4505731" cy="152400"/>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16200000" flipH="1">
              <a:off x="3271636"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38812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3004936" y="2090012"/>
              <a:ext cx="4505730" cy="3048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16200000" flipH="1">
              <a:off x="2242935" y="2013813"/>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16200000" flipH="1">
              <a:off x="3538336" y="2166212"/>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a:off x="3822180" y="1535657"/>
              <a:ext cx="4505731" cy="1413510"/>
            </a:xfrm>
            <a:prstGeom prst="line">
              <a:avLst/>
            </a:prstGeom>
            <a:ln>
              <a:solidFill>
                <a:schemeClr val="accent1">
                  <a:alpha val="56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rot="5400000">
              <a:off x="4225087" y="2090965"/>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a:off x="40717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rot="5400000">
              <a:off x="356500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rot="16200000" flipH="1">
              <a:off x="34126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rot="16200000" flipH="1">
              <a:off x="2928735" y="2166212"/>
              <a:ext cx="4505731" cy="152400"/>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16200000" flipH="1">
              <a:off x="3081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rot="5400000">
              <a:off x="464323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rot="16200000" flipH="1">
              <a:off x="4643234"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rot="5400000">
              <a:off x="5214735" y="2242140"/>
              <a:ext cx="4505731"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rot="16200000" flipH="1">
              <a:off x="5062335" y="2013812"/>
              <a:ext cx="4505731"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a:off x="5176636"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rot="16200000" flipH="1">
              <a:off x="5748135" y="2013813"/>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16200000" flipH="1">
              <a:off x="49099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4795635" y="2128112"/>
              <a:ext cx="4505731"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16200000" flipH="1">
              <a:off x="5390948" y="2066200"/>
              <a:ext cx="4505731"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16200000" flipH="1">
              <a:off x="59272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rot="16200000" flipH="1">
              <a:off x="55195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rot="16200000" flipH="1">
              <a:off x="5748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16200000" flipH="1">
              <a:off x="6433935" y="2166213"/>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16200000" flipH="1">
              <a:off x="6243435" y="2051913"/>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5400000">
              <a:off x="6395835" y="2051913"/>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16200000" flipH="1">
              <a:off x="6052936" y="2166212"/>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rot="5400000">
              <a:off x="6709356" y="2136834"/>
              <a:ext cx="4525755" cy="191133"/>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a:off x="6026265" y="2040483"/>
              <a:ext cx="4505731" cy="40386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rot="16200000" flipH="1">
              <a:off x="5927205" y="2139543"/>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5400000">
              <a:off x="6738734" y="2242140"/>
              <a:ext cx="4505732" cy="1588"/>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a:off x="3728835" y="2204312"/>
              <a:ext cx="4505731" cy="76200"/>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16200000" flipH="1">
              <a:off x="4224135" y="2166212"/>
              <a:ext cx="4505731" cy="1524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rot="16200000" flipH="1">
              <a:off x="4414635" y="2051912"/>
              <a:ext cx="4505731" cy="381000"/>
            </a:xfrm>
            <a:prstGeom prst="line">
              <a:avLst/>
            </a:prstGeom>
            <a:ln w="19050">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rot="5400000">
              <a:off x="3309735" y="2090012"/>
              <a:ext cx="4505731" cy="3048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rot="16200000" flipH="1">
              <a:off x="4324148" y="2066200"/>
              <a:ext cx="4505731"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rot="5400000">
              <a:off x="49480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rot="5400000">
              <a:off x="5405235" y="1747112"/>
              <a:ext cx="4505731" cy="990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rot="16200000" flipH="1">
              <a:off x="2547735" y="2013814"/>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grpSp>
      <p:sp>
        <p:nvSpPr>
          <p:cNvPr id="94" name="Rectangle 93"/>
          <p:cNvSpPr/>
          <p:nvPr/>
        </p:nvSpPr>
        <p:spPr>
          <a:xfrm>
            <a:off x="0" y="4311168"/>
            <a:ext cx="9144000" cy="1905000"/>
          </a:xfrm>
          <a:prstGeom prst="rect">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Tw Cen MT"/>
              <a:ea typeface="+mn-ea"/>
              <a:cs typeface="+mn-cs"/>
            </a:endParaRPr>
          </a:p>
        </p:txBody>
      </p:sp>
      <p:cxnSp>
        <p:nvCxnSpPr>
          <p:cNvPr id="96" name="Straight Connector 95"/>
          <p:cNvCxnSpPr/>
          <p:nvPr/>
        </p:nvCxnSpPr>
        <p:spPr>
          <a:xfrm>
            <a:off x="0" y="4387368"/>
            <a:ext cx="91440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0" y="6138380"/>
            <a:ext cx="91440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457200" y="5621364"/>
            <a:ext cx="8305800" cy="414649"/>
          </a:xfrm>
        </p:spPr>
        <p:txBody>
          <a:bodyPr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5" name="Title 94"/>
          <p:cNvSpPr>
            <a:spLocks noGrp="1"/>
          </p:cNvSpPr>
          <p:nvPr>
            <p:ph type="title"/>
          </p:nvPr>
        </p:nvSpPr>
        <p:spPr>
          <a:xfrm>
            <a:off x="457200" y="4463568"/>
            <a:ext cx="8305800" cy="1143000"/>
          </a:xfrm>
        </p:spPr>
        <p:txBody>
          <a:bodyPr/>
          <a:lstStyle/>
          <a:p>
            <a:r>
              <a:rPr lang="en-US" smtClean="0"/>
              <a:t>Click to edit Master title style</a:t>
            </a:r>
            <a:endParaRPr lang="en-US"/>
          </a:p>
        </p:txBody>
      </p:sp>
      <p:sp>
        <p:nvSpPr>
          <p:cNvPr id="2" name="Date Placeholder 1"/>
          <p:cNvSpPr>
            <a:spLocks noGrp="1"/>
          </p:cNvSpPr>
          <p:nvPr>
            <p:ph type="dt" sz="half" idx="10"/>
          </p:nvPr>
        </p:nvSpPr>
        <p:spPr/>
        <p:txBody>
          <a:bodyPr/>
          <a:lstStyle/>
          <a:p>
            <a:fld id="{6D882B3C-5561-4EEA-B9EC-6CF13351B29D}" type="datetimeFigureOut">
              <a:rPr lang="en-IN" smtClean="0"/>
              <a:t>08-11-2023</a:t>
            </a:fld>
            <a:endParaRPr lang="en-IN"/>
          </a:p>
        </p:txBody>
      </p:sp>
      <p:sp>
        <p:nvSpPr>
          <p:cNvPr id="91" name="Footer Placeholder 90"/>
          <p:cNvSpPr>
            <a:spLocks noGrp="1"/>
          </p:cNvSpPr>
          <p:nvPr>
            <p:ph type="ftr" sz="quarter" idx="11"/>
          </p:nvPr>
        </p:nvSpPr>
        <p:spPr/>
        <p:txBody>
          <a:bodyPr/>
          <a:lstStyle/>
          <a:p>
            <a:endParaRPr lang="en-IN"/>
          </a:p>
        </p:txBody>
      </p:sp>
      <p:sp>
        <p:nvSpPr>
          <p:cNvPr id="92" name="Slide Number Placeholder 91"/>
          <p:cNvSpPr>
            <a:spLocks noGrp="1"/>
          </p:cNvSpPr>
          <p:nvPr>
            <p:ph type="sldNum" sz="quarter" idx="12"/>
          </p:nvPr>
        </p:nvSpPr>
        <p:spPr/>
        <p:txBody>
          <a:bodyPr/>
          <a:lstStyle/>
          <a:p>
            <a:fld id="{50D5191F-9221-4594-AEB6-E672527B5F42}"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D882B3C-5561-4EEA-B9EC-6CF13351B29D}" type="datetimeFigureOut">
              <a:rPr lang="en-IN" smtClean="0"/>
              <a:t>08-11-2023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D5191F-9221-4594-AEB6-E672527B5F42}"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D882B3C-5561-4EEA-B9EC-6CF13351B29D}" type="datetimeFigureOut">
              <a:rPr lang="en-IN" smtClean="0"/>
              <a:t>08-11-2023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0D5191F-9221-4594-AEB6-E672527B5F42}"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D882B3C-5561-4EEA-B9EC-6CF13351B29D}" type="datetimeFigureOut">
              <a:rPr lang="en-IN" smtClean="0"/>
              <a:t>08-11-2023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D5191F-9221-4594-AEB6-E672527B5F4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882B3C-5561-4EEA-B9EC-6CF13351B29D}" type="datetimeFigureOut">
              <a:rPr lang="en-IN" smtClean="0"/>
              <a:t>08-11-2023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0D5191F-9221-4594-AEB6-E672527B5F4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200400" y="273050"/>
            <a:ext cx="5486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D882B3C-5561-4EEA-B9EC-6CF13351B29D}" type="datetimeFigureOut">
              <a:rPr lang="en-IN" smtClean="0"/>
              <a:t>08-11-2023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D5191F-9221-4594-AEB6-E672527B5F42}" type="slidenum">
              <a:rPr lang="en-IN" smtClean="0"/>
              <a:t>‹#›</a:t>
            </a:fld>
            <a:endParaRPr lang="en-IN"/>
          </a:p>
        </p:txBody>
      </p:sp>
      <p:sp>
        <p:nvSpPr>
          <p:cNvPr id="37" name="Rectangle 36"/>
          <p:cNvSpPr/>
          <p:nvPr/>
        </p:nvSpPr>
        <p:spPr>
          <a:xfrm>
            <a:off x="0" y="1563624"/>
            <a:ext cx="2761488" cy="3313176"/>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Tw Cen MT"/>
              <a:ea typeface="+mn-ea"/>
              <a:cs typeface="+mn-cs"/>
            </a:endParaRPr>
          </a:p>
        </p:txBody>
      </p:sp>
      <p:cxnSp>
        <p:nvCxnSpPr>
          <p:cNvPr id="39" name="Straight Connector 38"/>
          <p:cNvCxnSpPr/>
          <p:nvPr/>
        </p:nvCxnSpPr>
        <p:spPr>
          <a:xfrm rot="5400000">
            <a:off x="1128157" y="3221339"/>
            <a:ext cx="3017520"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0" y="1712976"/>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0" y="4733544"/>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2400" y="1901952"/>
            <a:ext cx="2377440" cy="1371600"/>
          </a:xfrm>
        </p:spPr>
        <p:txBody>
          <a:bodyPr anchor="b">
            <a:normAutofit/>
          </a:bodyPr>
          <a:lstStyle>
            <a:lvl1pPr algn="l" defTabSz="914400" rtl="0" eaLnBrk="1" latinLnBrk="0" hangingPunct="1">
              <a:spcBef>
                <a:spcPct val="0"/>
              </a:spcBef>
              <a:buNone/>
              <a:tabLst>
                <a:tab pos="3830638" algn="l"/>
              </a:tabLst>
              <a:defRPr lang="en-US" sz="2600" b="1" kern="1200" cap="none" spc="20" baseline="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latin typeface="+mj-lt"/>
                <a:ea typeface="+mj-ea"/>
                <a:cs typeface="+mj-cs"/>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152400" y="3273552"/>
            <a:ext cx="2377440" cy="1371600"/>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200400" y="381000"/>
            <a:ext cx="5562600" cy="5638800"/>
          </a:xfrm>
          <a:solidFill>
            <a:schemeClr val="bg2"/>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5" name="Date Placeholder 4"/>
          <p:cNvSpPr>
            <a:spLocks noGrp="1"/>
          </p:cNvSpPr>
          <p:nvPr>
            <p:ph type="dt" sz="half" idx="10"/>
          </p:nvPr>
        </p:nvSpPr>
        <p:spPr/>
        <p:txBody>
          <a:bodyPr/>
          <a:lstStyle/>
          <a:p>
            <a:fld id="{6D882B3C-5561-4EEA-B9EC-6CF13351B29D}" type="datetimeFigureOut">
              <a:rPr lang="en-IN" smtClean="0"/>
              <a:t>08-11-2023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D5191F-9221-4594-AEB6-E672527B5F42}" type="slidenum">
              <a:rPr lang="en-IN" smtClean="0"/>
              <a:t>‹#›</a:t>
            </a:fld>
            <a:endParaRPr lang="en-IN"/>
          </a:p>
        </p:txBody>
      </p:sp>
      <p:sp>
        <p:nvSpPr>
          <p:cNvPr id="33" name="Rectangle 32"/>
          <p:cNvSpPr/>
          <p:nvPr/>
        </p:nvSpPr>
        <p:spPr>
          <a:xfrm>
            <a:off x="0" y="1563624"/>
            <a:ext cx="2761488" cy="3313176"/>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Tw Cen MT"/>
              <a:ea typeface="+mn-ea"/>
              <a:cs typeface="+mn-cs"/>
            </a:endParaRPr>
          </a:p>
        </p:txBody>
      </p:sp>
      <p:cxnSp>
        <p:nvCxnSpPr>
          <p:cNvPr id="34" name="Straight Connector 33"/>
          <p:cNvCxnSpPr/>
          <p:nvPr/>
        </p:nvCxnSpPr>
        <p:spPr>
          <a:xfrm rot="5400000">
            <a:off x="1128157" y="3221339"/>
            <a:ext cx="3017520"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0" y="1712976"/>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0" y="4733544"/>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5448" y="1905000"/>
            <a:ext cx="2377440" cy="1371600"/>
          </a:xfrm>
        </p:spPr>
        <p:txBody>
          <a:bodyPr anchor="b">
            <a:normAutofit/>
          </a:bodyPr>
          <a:lstStyle>
            <a:lvl1pPr algn="l">
              <a:defRPr sz="2600" b="1" cap="none" spc="20" baseline="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152400" y="3276600"/>
            <a:ext cx="2377440" cy="1371600"/>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D882B3C-5561-4EEA-B9EC-6CF13351B29D}" type="datetimeFigureOut">
              <a:rPr lang="en-IN" smtClean="0"/>
              <a:t>08-11-2023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D5191F-9221-4594-AEB6-E672527B5F4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D882B3C-5561-4EEA-B9EC-6CF13351B29D}" type="datetimeFigureOut">
              <a:rPr lang="en-IN" smtClean="0"/>
              <a:t>08-11-2023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D5191F-9221-4594-AEB6-E672527B5F42}"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90" name="Rectangle 189"/>
          <p:cNvSpPr/>
          <p:nvPr/>
        </p:nvSpPr>
        <p:spPr>
          <a:xfrm>
            <a:off x="149352" y="137160"/>
            <a:ext cx="8869680" cy="6583680"/>
          </a:xfrm>
          <a:prstGeom prst="rect">
            <a:avLst/>
          </a:prstGeom>
          <a:noFill/>
          <a:ln w="1905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Tw Cen MT"/>
              <a:ea typeface="+mn-ea"/>
              <a:cs typeface="+mn-cs"/>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12408"/>
            <a:ext cx="2133600" cy="365125"/>
          </a:xfrm>
          <a:prstGeom prst="rect">
            <a:avLst/>
          </a:prstGeom>
        </p:spPr>
        <p:txBody>
          <a:bodyPr vert="horz" lIns="91440" tIns="45720" rIns="91440" bIns="45720" rtlCol="0" anchor="ctr"/>
          <a:lstStyle>
            <a:lvl1pPr algn="l">
              <a:defRPr sz="1200">
                <a:solidFill>
                  <a:schemeClr val="tx2"/>
                </a:solidFill>
              </a:defRPr>
            </a:lvl1pPr>
          </a:lstStyle>
          <a:p>
            <a:fld id="{6D882B3C-5561-4EEA-B9EC-6CF13351B29D}" type="datetimeFigureOut">
              <a:rPr lang="en-IN" smtClean="0"/>
              <a:t>08-11-2023</a:t>
            </a:fld>
            <a:endParaRPr lang="en-IN"/>
          </a:p>
        </p:txBody>
      </p:sp>
      <p:sp>
        <p:nvSpPr>
          <p:cNvPr id="5" name="Footer Placeholder 4"/>
          <p:cNvSpPr>
            <a:spLocks noGrp="1"/>
          </p:cNvSpPr>
          <p:nvPr>
            <p:ph type="ftr" sz="quarter" idx="3"/>
          </p:nvPr>
        </p:nvSpPr>
        <p:spPr>
          <a:xfrm>
            <a:off x="2831123" y="6312408"/>
            <a:ext cx="3481754" cy="365125"/>
          </a:xfrm>
          <a:prstGeom prst="rect">
            <a:avLst/>
          </a:prstGeom>
        </p:spPr>
        <p:txBody>
          <a:bodyPr vert="horz" lIns="91440" tIns="45720" rIns="91440" bIns="45720" rtlCol="0" anchor="ctr"/>
          <a:lstStyle>
            <a:lvl1pPr algn="ctr">
              <a:defRPr sz="1200">
                <a:solidFill>
                  <a:schemeClr val="tx2"/>
                </a:solidFill>
              </a:defRPr>
            </a:lvl1pPr>
          </a:lstStyle>
          <a:p>
            <a:endParaRPr lang="en-IN"/>
          </a:p>
        </p:txBody>
      </p:sp>
      <p:sp>
        <p:nvSpPr>
          <p:cNvPr id="6" name="Slide Number Placeholder 5"/>
          <p:cNvSpPr>
            <a:spLocks noGrp="1"/>
          </p:cNvSpPr>
          <p:nvPr>
            <p:ph type="sldNum" sz="quarter" idx="4"/>
          </p:nvPr>
        </p:nvSpPr>
        <p:spPr>
          <a:xfrm>
            <a:off x="6553200" y="6312408"/>
            <a:ext cx="2133600" cy="365125"/>
          </a:xfrm>
          <a:prstGeom prst="rect">
            <a:avLst/>
          </a:prstGeom>
        </p:spPr>
        <p:txBody>
          <a:bodyPr vert="horz" lIns="91440" tIns="45720" rIns="91440" bIns="45720" rtlCol="0" anchor="ctr"/>
          <a:lstStyle>
            <a:lvl1pPr algn="r">
              <a:defRPr sz="1200">
                <a:solidFill>
                  <a:schemeClr val="tx2"/>
                </a:solidFill>
              </a:defRPr>
            </a:lvl1pPr>
          </a:lstStyle>
          <a:p>
            <a:fld id="{50D5191F-9221-4594-AEB6-E672527B5F42}" type="slidenum">
              <a:rPr lang="en-IN" smtClean="0"/>
              <a:t>‹#›</a:t>
            </a:fld>
            <a:endParaRPr lang="en-IN"/>
          </a:p>
        </p:txBody>
      </p:sp>
    </p:spTree>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spcBef>
          <a:spcPct val="0"/>
        </a:spcBef>
        <a:buNone/>
        <a:tabLst>
          <a:tab pos="3830638" algn="l"/>
        </a:tabLst>
        <a:defRPr sz="3600" b="1" kern="1200" cap="none" spc="50">
          <a:ln w="13335" cmpd="sng">
            <a:solidFill>
              <a:schemeClr val="accent1">
                <a:lumMod val="50000"/>
              </a:schemeClr>
            </a:solidFill>
            <a:prstDash val="solid"/>
          </a:ln>
          <a:solidFill>
            <a:schemeClr val="accent6">
              <a:tint val="1000"/>
            </a:schemeClr>
          </a:solidFill>
          <a:effectLst/>
          <a:latin typeface="+mj-lt"/>
          <a:ea typeface="+mj-ea"/>
          <a:cs typeface="+mj-cs"/>
        </a:defRPr>
      </a:lvl1pPr>
    </p:titleStyle>
    <p:bodyStyle>
      <a:lvl1pPr marL="274320" indent="-274320" algn="l" defTabSz="914400" rtl="0" eaLnBrk="1" latinLnBrk="0" hangingPunct="1">
        <a:spcBef>
          <a:spcPct val="20000"/>
        </a:spcBef>
        <a:buClr>
          <a:schemeClr val="accent1">
            <a:lumMod val="60000"/>
            <a:lumOff val="40000"/>
          </a:schemeClr>
        </a:buClr>
        <a:buFont typeface="Arial" pitchFamily="34" charset="0"/>
        <a:buChar char="•"/>
        <a:defRPr sz="2400" kern="1200">
          <a:solidFill>
            <a:schemeClr val="tx2"/>
          </a:solidFill>
          <a:latin typeface="+mn-lt"/>
          <a:ea typeface="+mn-ea"/>
          <a:cs typeface="+mn-cs"/>
        </a:defRPr>
      </a:lvl1pPr>
      <a:lvl2pPr marL="548640" indent="-182880" algn="l" defTabSz="914400" rtl="0" eaLnBrk="1" latinLnBrk="0" hangingPunct="1">
        <a:spcBef>
          <a:spcPct val="20000"/>
        </a:spcBef>
        <a:buClr>
          <a:schemeClr val="accent1">
            <a:lumMod val="60000"/>
            <a:lumOff val="40000"/>
          </a:schemeClr>
        </a:buClr>
        <a:buFont typeface="Arial" pitchFamily="34" charset="0"/>
        <a:buChar char="•"/>
        <a:defRPr sz="2000" kern="1200">
          <a:solidFill>
            <a:schemeClr val="tx1"/>
          </a:solidFill>
          <a:latin typeface="+mn-lt"/>
          <a:ea typeface="+mn-ea"/>
          <a:cs typeface="+mn-cs"/>
        </a:defRPr>
      </a:lvl2pPr>
      <a:lvl3pPr marL="91440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3pPr>
      <a:lvl4pPr marL="118872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4pPr>
      <a:lvl5pPr marL="1463040" indent="-228600" algn="l" defTabSz="914400" rtl="0" eaLnBrk="1" latinLnBrk="0" hangingPunct="1">
        <a:spcBef>
          <a:spcPct val="20000"/>
        </a:spcBef>
        <a:buClr>
          <a:schemeClr val="accent4"/>
        </a:buClr>
        <a:buFont typeface="Arial" pitchFamily="34" charset="0"/>
        <a:buChar char="•"/>
        <a:defRPr sz="1600" kern="1200" baseline="0">
          <a:solidFill>
            <a:schemeClr val="tx2"/>
          </a:solidFill>
          <a:latin typeface="+mn-lt"/>
          <a:ea typeface="+mn-ea"/>
          <a:cs typeface="+mn-cs"/>
        </a:defRPr>
      </a:lvl5pPr>
      <a:lvl6pPr marL="1691640" indent="-182880" algn="l" defTabSz="914400" rtl="0" eaLnBrk="1" latinLnBrk="0" hangingPunct="1">
        <a:spcBef>
          <a:spcPct val="20000"/>
        </a:spcBef>
        <a:buClr>
          <a:schemeClr val="accent5"/>
        </a:buClr>
        <a:buFont typeface="Arial" pitchFamily="34" charset="0"/>
        <a:buChar char="•"/>
        <a:defRPr sz="1600" kern="1200">
          <a:solidFill>
            <a:schemeClr val="tx1"/>
          </a:solidFill>
          <a:latin typeface="+mn-lt"/>
          <a:ea typeface="+mn-ea"/>
          <a:cs typeface="+mn-cs"/>
        </a:defRPr>
      </a:lvl6pPr>
      <a:lvl7pPr marL="1920240" indent="-182880" algn="l" defTabSz="914400" rtl="0" eaLnBrk="1" latinLnBrk="0" hangingPunct="1">
        <a:spcBef>
          <a:spcPct val="20000"/>
        </a:spcBef>
        <a:buClr>
          <a:schemeClr val="accent6"/>
        </a:buClr>
        <a:buFont typeface="Arial" pitchFamily="34" charset="0"/>
        <a:buChar char="•"/>
        <a:defRPr sz="1600" kern="1200">
          <a:solidFill>
            <a:schemeClr val="tx1"/>
          </a:solidFill>
          <a:latin typeface="+mn-lt"/>
          <a:ea typeface="+mn-ea"/>
          <a:cs typeface="+mn-cs"/>
        </a:defRPr>
      </a:lvl7pPr>
      <a:lvl8pPr marL="2148840" indent="-182880" algn="l" defTabSz="914400" rtl="0" eaLnBrk="1" latinLnBrk="0" hangingPunct="1">
        <a:spcBef>
          <a:spcPct val="20000"/>
        </a:spcBef>
        <a:buClr>
          <a:schemeClr val="accent3"/>
        </a:buClr>
        <a:buFont typeface="Arial" pitchFamily="34" charset="0"/>
        <a:buChar char="•"/>
        <a:defRPr sz="1600" kern="1200">
          <a:solidFill>
            <a:schemeClr val="tx1"/>
          </a:solidFill>
          <a:latin typeface="+mn-lt"/>
          <a:ea typeface="+mn-ea"/>
          <a:cs typeface="+mn-cs"/>
        </a:defRPr>
      </a:lvl8pPr>
      <a:lvl9pPr marL="2377440" indent="-182880" algn="l" defTabSz="914400" rtl="0" eaLnBrk="1" latinLnBrk="0" hangingPunct="1">
        <a:spcBef>
          <a:spcPct val="20000"/>
        </a:spcBef>
        <a:buClr>
          <a:schemeClr val="accent6"/>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CPU</a:t>
            </a:r>
            <a:endParaRPr lang="en-IN" dirty="0"/>
          </a:p>
        </p:txBody>
      </p:sp>
      <p:sp>
        <p:nvSpPr>
          <p:cNvPr id="3" name="Subtitle 2"/>
          <p:cNvSpPr>
            <a:spLocks noGrp="1"/>
          </p:cNvSpPr>
          <p:nvPr>
            <p:ph type="subTitle" idx="1"/>
          </p:nvPr>
        </p:nvSpPr>
        <p:spPr/>
        <p:txBody>
          <a:bodyPr/>
          <a:lstStyle/>
          <a:p>
            <a:r>
              <a:rPr lang="en-US" dirty="0" smtClean="0"/>
              <a:t>CENTRAL PROCESSING UNIT</a:t>
            </a:r>
            <a:endParaRPr lang="en-IN" dirty="0"/>
          </a:p>
        </p:txBody>
      </p:sp>
    </p:spTree>
    <p:extLst>
      <p:ext uri="{BB962C8B-B14F-4D97-AF65-F5344CB8AC3E}">
        <p14:creationId xmlns:p14="http://schemas.microsoft.com/office/powerpoint/2010/main" val="1949302950"/>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19256" cy="580926"/>
          </a:xfrm>
        </p:spPr>
        <p:txBody>
          <a:bodyPr>
            <a:noAutofit/>
          </a:bodyPr>
          <a:lstStyle/>
          <a:p>
            <a:r>
              <a:rPr lang="en-US" sz="4400" dirty="0">
                <a:latin typeface="Arial Black" pitchFamily="34" charset="0"/>
              </a:rPr>
              <a:t> </a:t>
            </a:r>
            <a:r>
              <a:rPr lang="en-US" sz="4400" dirty="0" smtClean="0">
                <a:latin typeface="Arial Black" pitchFamily="34" charset="0"/>
              </a:rPr>
              <a:t>INTRODUCTION </a:t>
            </a:r>
            <a:r>
              <a:rPr lang="en-US" sz="4400" dirty="0">
                <a:latin typeface="Arial Black" pitchFamily="34" charset="0"/>
              </a:rPr>
              <a:t>OF CPU</a:t>
            </a:r>
            <a:endParaRPr lang="en-IN" sz="4400" dirty="0">
              <a:latin typeface="Arial Black" pitchFamily="34" charset="0"/>
            </a:endParaRPr>
          </a:p>
        </p:txBody>
      </p:sp>
      <p:sp>
        <p:nvSpPr>
          <p:cNvPr id="3" name="Content Placeholder 2"/>
          <p:cNvSpPr>
            <a:spLocks noGrp="1"/>
          </p:cNvSpPr>
          <p:nvPr>
            <p:ph idx="1"/>
          </p:nvPr>
        </p:nvSpPr>
        <p:spPr/>
        <p:txBody>
          <a:bodyPr/>
          <a:lstStyle/>
          <a:p>
            <a:endParaRPr lang="en-US" dirty="0" smtClean="0"/>
          </a:p>
          <a:p>
            <a:endParaRPr lang="en-US" dirty="0"/>
          </a:p>
          <a:p>
            <a:pPr marL="0" indent="0">
              <a:buNone/>
            </a:pPr>
            <a:r>
              <a:rPr lang="en-US" dirty="0" smtClean="0"/>
              <a:t>The </a:t>
            </a:r>
            <a:r>
              <a:rPr lang="en-US" dirty="0"/>
              <a:t>Central Processing Unit (CPU), often referred to as the "brain" of a computer, is a critical component responsible for executing instructions and performing calculations in a computer system. It plays a fundamental role in the operation of a computer and is a key element in determining a computer's overall </a:t>
            </a:r>
            <a:r>
              <a:rPr lang="en-US" dirty="0" smtClean="0"/>
              <a:t>performance.</a:t>
            </a:r>
            <a:endParaRPr lang="en-IN" dirty="0"/>
          </a:p>
        </p:txBody>
      </p:sp>
    </p:spTree>
    <p:extLst>
      <p:ext uri="{BB962C8B-B14F-4D97-AF65-F5344CB8AC3E}">
        <p14:creationId xmlns:p14="http://schemas.microsoft.com/office/powerpoint/2010/main" val="80642510"/>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t>             HISTORY OF CPU</a:t>
            </a:r>
            <a:endParaRPr lang="en-IN" sz="4400"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The history of the Central Processing Unit (CPU) is a fascinating journey that spans over several decades. The evolution of the CPU has been marked by significant advancements in technology, leading to increasingly powerful and efficient processors. Here is a brief history of the CPU</a:t>
            </a:r>
            <a:r>
              <a:rPr lang="en-US" dirty="0" smtClean="0"/>
              <a:t>:</a:t>
            </a:r>
          </a:p>
          <a:p>
            <a:endParaRPr lang="en-US" dirty="0" smtClean="0"/>
          </a:p>
          <a:p>
            <a:pPr marL="457200" indent="-457200">
              <a:buAutoNum type="arabicPeriod"/>
            </a:pPr>
            <a:r>
              <a:rPr lang="en-US" dirty="0" smtClean="0"/>
              <a:t>1940s </a:t>
            </a:r>
            <a:r>
              <a:rPr lang="en-US" dirty="0"/>
              <a:t>- First Electronic Digital </a:t>
            </a:r>
            <a:r>
              <a:rPr lang="en-US" dirty="0" smtClean="0"/>
              <a:t>Computers</a:t>
            </a:r>
          </a:p>
          <a:p>
            <a:pPr marL="457200" indent="-457200">
              <a:buAutoNum type="arabicPeriod"/>
            </a:pPr>
            <a:r>
              <a:rPr lang="en-IN" dirty="0"/>
              <a:t>1950s - Transition to </a:t>
            </a:r>
            <a:r>
              <a:rPr lang="en-IN" dirty="0" smtClean="0"/>
              <a:t>Transistors</a:t>
            </a:r>
          </a:p>
          <a:p>
            <a:pPr marL="457200" indent="-457200">
              <a:buAutoNum type="arabicPeriod"/>
            </a:pPr>
            <a:r>
              <a:rPr lang="en-IN" dirty="0"/>
              <a:t>1960s - Integrated Circuits (ICs</a:t>
            </a:r>
            <a:r>
              <a:rPr lang="en-IN" dirty="0" smtClean="0"/>
              <a:t>)</a:t>
            </a:r>
          </a:p>
          <a:p>
            <a:pPr marL="457200" indent="-457200">
              <a:buAutoNum type="arabicPeriod"/>
            </a:pPr>
            <a:r>
              <a:rPr lang="en-IN" dirty="0"/>
              <a:t>1970s </a:t>
            </a:r>
            <a:r>
              <a:rPr lang="en-IN" dirty="0" smtClean="0"/>
              <a:t>– Microprocessors</a:t>
            </a:r>
          </a:p>
          <a:p>
            <a:pPr marL="457200" indent="-457200">
              <a:buAutoNum type="arabicPeriod"/>
            </a:pPr>
            <a:r>
              <a:rPr lang="en-IN" dirty="0"/>
              <a:t>1980s - Personal Computers (PCs</a:t>
            </a:r>
            <a:r>
              <a:rPr lang="en-IN" dirty="0" smtClean="0"/>
              <a:t>)</a:t>
            </a:r>
          </a:p>
          <a:p>
            <a:pPr marL="457200" indent="-457200">
              <a:buAutoNum type="arabicPeriod"/>
            </a:pPr>
            <a:r>
              <a:rPr lang="en-IN" dirty="0"/>
              <a:t>1990s - Advancements in </a:t>
            </a:r>
            <a:r>
              <a:rPr lang="en-IN" dirty="0" smtClean="0"/>
              <a:t>Performance</a:t>
            </a:r>
          </a:p>
          <a:p>
            <a:pPr marL="457200" indent="-457200">
              <a:buAutoNum type="arabicPeriod"/>
            </a:pPr>
            <a:r>
              <a:rPr lang="en-IN" dirty="0"/>
              <a:t>2000s - Multi-Core </a:t>
            </a:r>
            <a:r>
              <a:rPr lang="en-IN" dirty="0" smtClean="0"/>
              <a:t>Processors</a:t>
            </a:r>
          </a:p>
          <a:p>
            <a:pPr marL="457200" indent="-457200">
              <a:buAutoNum type="arabicPeriod"/>
            </a:pPr>
            <a:r>
              <a:rPr lang="en-US" dirty="0"/>
              <a:t>2020s - Advances in AI and High-Performance Computing</a:t>
            </a:r>
            <a:endParaRPr lang="en-US" dirty="0"/>
          </a:p>
        </p:txBody>
      </p:sp>
    </p:spTree>
    <p:extLst>
      <p:ext uri="{BB962C8B-B14F-4D97-AF65-F5344CB8AC3E}">
        <p14:creationId xmlns:p14="http://schemas.microsoft.com/office/powerpoint/2010/main" val="2653847562"/>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sus\AppData\Local\Microsoft\Windows\INetCache\IE\YR997YAY\Cpu_diagram[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87824" y="620688"/>
            <a:ext cx="5760640" cy="547260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smtClean="0"/>
              <a:t>BLOCK DIGRAM OF CPU</a:t>
            </a:r>
            <a:endParaRPr lang="en-IN" dirty="0"/>
          </a:p>
        </p:txBody>
      </p:sp>
      <p:sp>
        <p:nvSpPr>
          <p:cNvPr id="4" name="Text Placeholder 3"/>
          <p:cNvSpPr>
            <a:spLocks noGrp="1"/>
          </p:cNvSpPr>
          <p:nvPr>
            <p:ph type="body" sz="half" idx="2"/>
          </p:nvPr>
        </p:nvSpPr>
        <p:spPr/>
        <p:txBody>
          <a:bodyPr/>
          <a:lstStyle/>
          <a:p>
            <a:r>
              <a:rPr lang="en-US" dirty="0" smtClean="0"/>
              <a:t>(central processing unit)</a:t>
            </a:r>
            <a:endParaRPr lang="en-IN" dirty="0"/>
          </a:p>
        </p:txBody>
      </p:sp>
    </p:spTree>
    <p:extLst>
      <p:ext uri="{BB962C8B-B14F-4D97-AF65-F5344CB8AC3E}">
        <p14:creationId xmlns:p14="http://schemas.microsoft.com/office/powerpoint/2010/main" val="3635940903"/>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      COMPONENTS OF CPU</a:t>
            </a:r>
            <a:endParaRPr lang="en-IN" sz="4800" dirty="0"/>
          </a:p>
        </p:txBody>
      </p:sp>
      <p:sp>
        <p:nvSpPr>
          <p:cNvPr id="3" name="Content Placeholder 2"/>
          <p:cNvSpPr>
            <a:spLocks noGrp="1"/>
          </p:cNvSpPr>
          <p:nvPr>
            <p:ph idx="1"/>
          </p:nvPr>
        </p:nvSpPr>
        <p:spPr/>
        <p:txBody>
          <a:bodyPr>
            <a:normAutofit/>
          </a:bodyPr>
          <a:lstStyle/>
          <a:p>
            <a:pPr marL="0" indent="0">
              <a:buNone/>
            </a:pPr>
            <a:endParaRPr lang="en-US" dirty="0" smtClean="0"/>
          </a:p>
          <a:p>
            <a:pPr marL="0" indent="0">
              <a:buNone/>
            </a:pPr>
            <a:r>
              <a:rPr lang="en-US" dirty="0" smtClean="0"/>
              <a:t>The </a:t>
            </a:r>
            <a:r>
              <a:rPr lang="en-US" dirty="0"/>
              <a:t>Central Processing Unit (CPU) is a complex electronic component that performs the primary processing tasks within a computer system. It consists of several key components that work together to execute instructions and manipulate data. The main components of a CPU include</a:t>
            </a:r>
            <a:r>
              <a:rPr lang="en-US" dirty="0" smtClean="0"/>
              <a:t>:</a:t>
            </a:r>
          </a:p>
          <a:p>
            <a:pPr marL="0" indent="0">
              <a:buNone/>
            </a:pPr>
            <a:endParaRPr lang="en-US" dirty="0" smtClean="0"/>
          </a:p>
          <a:p>
            <a:r>
              <a:rPr lang="en-US" dirty="0" smtClean="0"/>
              <a:t>CONTROL UNIT(CU)</a:t>
            </a:r>
          </a:p>
          <a:p>
            <a:r>
              <a:rPr lang="en-US" dirty="0" smtClean="0"/>
              <a:t>ARTHEMATIC AND LOGIC UNIT(ALU)</a:t>
            </a:r>
            <a:endParaRPr lang="en-IN" dirty="0" smtClean="0"/>
          </a:p>
          <a:p>
            <a:r>
              <a:rPr lang="en-US" dirty="0" smtClean="0"/>
              <a:t>REGISTERS</a:t>
            </a:r>
          </a:p>
        </p:txBody>
      </p:sp>
    </p:spTree>
    <p:extLst>
      <p:ext uri="{BB962C8B-B14F-4D97-AF65-F5344CB8AC3E}">
        <p14:creationId xmlns:p14="http://schemas.microsoft.com/office/powerpoint/2010/main" val="1041716604"/>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340768"/>
            <a:ext cx="8219256" cy="724942"/>
          </a:xfrm>
        </p:spPr>
        <p:txBody>
          <a:bodyPr>
            <a:normAutofit fontScale="90000"/>
          </a:bodyPr>
          <a:lstStyle/>
          <a:p>
            <a:r>
              <a:rPr lang="en-US" sz="4400" dirty="0" smtClean="0"/>
              <a:t>          CONTROL </a:t>
            </a:r>
            <a:r>
              <a:rPr lang="en-US" sz="4400" dirty="0"/>
              <a:t>UNIT(CU</a:t>
            </a:r>
            <a:r>
              <a:rPr lang="en-US" sz="4400" dirty="0" smtClean="0"/>
              <a:t>)</a:t>
            </a:r>
            <a:endParaRPr lang="en-IN" sz="4400" dirty="0"/>
          </a:p>
        </p:txBody>
      </p:sp>
      <p:sp>
        <p:nvSpPr>
          <p:cNvPr id="3" name="Content Placeholder 2"/>
          <p:cNvSpPr>
            <a:spLocks noGrp="1"/>
          </p:cNvSpPr>
          <p:nvPr>
            <p:ph idx="1"/>
          </p:nvPr>
        </p:nvSpPr>
        <p:spPr>
          <a:xfrm>
            <a:off x="395536" y="2924944"/>
            <a:ext cx="8291264" cy="1656184"/>
          </a:xfrm>
        </p:spPr>
        <p:txBody>
          <a:bodyPr>
            <a:normAutofit/>
          </a:bodyPr>
          <a:lstStyle/>
          <a:p>
            <a:pPr marL="0" indent="0">
              <a:buNone/>
            </a:pPr>
            <a:r>
              <a:rPr lang="en-US" dirty="0"/>
              <a:t>The Control Unit is responsible for coordinating and managing the various components of the CPU. It fetches instructions from memory, decodes them, and controls the flow of data within the CPU.</a:t>
            </a:r>
            <a:endParaRPr lang="en-IN" dirty="0"/>
          </a:p>
        </p:txBody>
      </p:sp>
    </p:spTree>
    <p:extLst>
      <p:ext uri="{BB962C8B-B14F-4D97-AF65-F5344CB8AC3E}">
        <p14:creationId xmlns:p14="http://schemas.microsoft.com/office/powerpoint/2010/main" val="368490946"/>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484784"/>
            <a:ext cx="8291264" cy="652934"/>
          </a:xfrm>
        </p:spPr>
        <p:txBody>
          <a:bodyPr>
            <a:noAutofit/>
          </a:bodyPr>
          <a:lstStyle/>
          <a:p>
            <a:r>
              <a:rPr lang="en-US" i="1" dirty="0" smtClean="0"/>
              <a:t>    ARTHEMATIC </a:t>
            </a:r>
            <a:r>
              <a:rPr lang="en-US" i="1" dirty="0"/>
              <a:t>AND LOGIC UNIT(ALU</a:t>
            </a:r>
            <a:r>
              <a:rPr lang="en-US" i="1" dirty="0" smtClean="0"/>
              <a:t>)</a:t>
            </a:r>
            <a:endParaRPr lang="en-IN" i="1" dirty="0"/>
          </a:p>
        </p:txBody>
      </p:sp>
      <p:sp>
        <p:nvSpPr>
          <p:cNvPr id="3" name="Content Placeholder 2"/>
          <p:cNvSpPr>
            <a:spLocks noGrp="1"/>
          </p:cNvSpPr>
          <p:nvPr>
            <p:ph idx="1"/>
          </p:nvPr>
        </p:nvSpPr>
        <p:spPr>
          <a:xfrm>
            <a:off x="539552" y="2132856"/>
            <a:ext cx="8147248" cy="3849292"/>
          </a:xfrm>
        </p:spPr>
        <p:txBody>
          <a:bodyPr/>
          <a:lstStyle/>
          <a:p>
            <a:endParaRPr lang="en-US" dirty="0" smtClean="0"/>
          </a:p>
          <a:p>
            <a:endParaRPr lang="en-US" dirty="0"/>
          </a:p>
          <a:p>
            <a:pPr marL="0" indent="0" algn="just">
              <a:buNone/>
            </a:pPr>
            <a:r>
              <a:rPr lang="en-US" dirty="0" smtClean="0"/>
              <a:t> The </a:t>
            </a:r>
            <a:r>
              <a:rPr lang="en-US" dirty="0"/>
              <a:t>ALU is responsible for performing arithmetic operations </a:t>
            </a:r>
            <a:r>
              <a:rPr lang="en-US" dirty="0" smtClean="0"/>
              <a:t>       addition</a:t>
            </a:r>
            <a:r>
              <a:rPr lang="en-US" dirty="0"/>
              <a:t>, subtraction, multiplication, division) and logical operations (AND, OR, NOT) on data. It's the component that actually carries out the calculations.</a:t>
            </a:r>
            <a:endParaRPr lang="en-IN" dirty="0"/>
          </a:p>
        </p:txBody>
      </p:sp>
    </p:spTree>
    <p:extLst>
      <p:ext uri="{BB962C8B-B14F-4D97-AF65-F5344CB8AC3E}">
        <p14:creationId xmlns:p14="http://schemas.microsoft.com/office/powerpoint/2010/main" val="565303334"/>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548680"/>
            <a:ext cx="8147248" cy="796950"/>
          </a:xfrm>
        </p:spPr>
        <p:txBody>
          <a:bodyPr>
            <a:normAutofit fontScale="90000"/>
          </a:bodyPr>
          <a:lstStyle/>
          <a:p>
            <a:r>
              <a:rPr lang="en-US" sz="4800" dirty="0"/>
              <a:t> </a:t>
            </a:r>
            <a:r>
              <a:rPr lang="en-US" sz="4800" dirty="0" smtClean="0"/>
              <a:t>               REGISTERS</a:t>
            </a:r>
            <a:endParaRPr lang="en-IN" sz="4800" dirty="0"/>
          </a:p>
        </p:txBody>
      </p:sp>
      <p:sp>
        <p:nvSpPr>
          <p:cNvPr id="3" name="Content Placeholder 2"/>
          <p:cNvSpPr>
            <a:spLocks noGrp="1"/>
          </p:cNvSpPr>
          <p:nvPr>
            <p:ph idx="1"/>
          </p:nvPr>
        </p:nvSpPr>
        <p:spPr>
          <a:xfrm>
            <a:off x="395536" y="1484784"/>
            <a:ext cx="8352928" cy="5040561"/>
          </a:xfrm>
        </p:spPr>
        <p:txBody>
          <a:bodyPr>
            <a:normAutofit/>
          </a:bodyPr>
          <a:lstStyle/>
          <a:p>
            <a:pPr marL="0" indent="0">
              <a:buNone/>
            </a:pPr>
            <a:r>
              <a:rPr lang="en-US" dirty="0"/>
              <a:t>Registers are small, high-speed memory locations within the CPU used for temporarily holding data, instructions, and addresses. Some of the essential registers include:</a:t>
            </a:r>
          </a:p>
          <a:p>
            <a:r>
              <a:rPr lang="en-US" b="1" dirty="0"/>
              <a:t>Program Counter (PC):</a:t>
            </a:r>
            <a:r>
              <a:rPr lang="en-US" dirty="0"/>
              <a:t> Stores the memory address of the next instruction to be executed.</a:t>
            </a:r>
          </a:p>
          <a:p>
            <a:r>
              <a:rPr lang="en-US" b="1" dirty="0"/>
              <a:t>Instruction Register (IR):</a:t>
            </a:r>
            <a:r>
              <a:rPr lang="en-US" dirty="0"/>
              <a:t> Holds the currently executing instruction.</a:t>
            </a:r>
          </a:p>
          <a:p>
            <a:r>
              <a:rPr lang="en-US" b="1" dirty="0"/>
              <a:t>Memory Address Register (MAR):</a:t>
            </a:r>
            <a:r>
              <a:rPr lang="en-US" dirty="0"/>
              <a:t> Contains the memory address for read or write operations.</a:t>
            </a:r>
          </a:p>
          <a:p>
            <a:r>
              <a:rPr lang="en-US" b="1" dirty="0"/>
              <a:t>Memory Buffer Register (MBR):</a:t>
            </a:r>
            <a:r>
              <a:rPr lang="en-US" dirty="0"/>
              <a:t> Temporarily holds data being transferred to or from memory</a:t>
            </a:r>
            <a:r>
              <a:rPr lang="en-US" dirty="0" smtClean="0"/>
              <a:t>.</a:t>
            </a:r>
          </a:p>
        </p:txBody>
      </p:sp>
    </p:spTree>
    <p:extLst>
      <p:ext uri="{BB962C8B-B14F-4D97-AF65-F5344CB8AC3E}">
        <p14:creationId xmlns:p14="http://schemas.microsoft.com/office/powerpoint/2010/main" val="4241067970"/>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smtClean="0"/>
              <a:t>           INPUT DEVICE</a:t>
            </a:r>
            <a:endParaRPr lang="en-IN" sz="5400" dirty="0"/>
          </a:p>
        </p:txBody>
      </p:sp>
      <p:sp>
        <p:nvSpPr>
          <p:cNvPr id="3" name="Content Placeholder 2"/>
          <p:cNvSpPr>
            <a:spLocks noGrp="1"/>
          </p:cNvSpPr>
          <p:nvPr>
            <p:ph sz="half" idx="1"/>
          </p:nvPr>
        </p:nvSpPr>
        <p:spPr/>
        <p:txBody>
          <a:bodyPr>
            <a:normAutofit fontScale="92500"/>
          </a:bodyPr>
          <a:lstStyle/>
          <a:p>
            <a:pPr marL="0" indent="0">
              <a:buNone/>
            </a:pPr>
            <a:r>
              <a:rPr lang="en-US" dirty="0"/>
              <a:t>An input device is a hardware component or peripheral that allows users to enter data, commands, or information into a computer or electronic system. Input devices enable interaction between the user and the computer, facilitating the input of various types of data. </a:t>
            </a:r>
            <a:endParaRPr lang="en-IN" dirty="0"/>
          </a:p>
        </p:txBody>
      </p:sp>
      <p:sp>
        <p:nvSpPr>
          <p:cNvPr id="4" name="Content Placeholder 3"/>
          <p:cNvSpPr>
            <a:spLocks noGrp="1"/>
          </p:cNvSpPr>
          <p:nvPr>
            <p:ph sz="half" idx="2"/>
          </p:nvPr>
        </p:nvSpPr>
        <p:spPr>
          <a:xfrm>
            <a:off x="5580112" y="2276872"/>
            <a:ext cx="3106688" cy="2332855"/>
          </a:xfrm>
        </p:spPr>
        <p:txBody>
          <a:bodyPr>
            <a:normAutofit fontScale="92500"/>
          </a:bodyPr>
          <a:lstStyle/>
          <a:p>
            <a:pPr marL="0" indent="0">
              <a:buNone/>
            </a:pPr>
            <a:endParaRPr lang="en-IN" dirty="0"/>
          </a:p>
        </p:txBody>
      </p:sp>
      <p:pic>
        <p:nvPicPr>
          <p:cNvPr id="6146" name="Picture 2" descr="C:\Users\asus\AppData\Local\Microsoft\Windows\INetCache\IE\NHB8IC5M\Perangkat_Keras_Komputer_Input_Device[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6" y="1916832"/>
            <a:ext cx="4038882" cy="3385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388549"/>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smtClean="0"/>
              <a:t>        OUTPUT DEVICE</a:t>
            </a:r>
            <a:endParaRPr lang="en-IN" sz="5400" dirty="0"/>
          </a:p>
        </p:txBody>
      </p:sp>
      <p:sp>
        <p:nvSpPr>
          <p:cNvPr id="3" name="Content Placeholder 2"/>
          <p:cNvSpPr>
            <a:spLocks noGrp="1"/>
          </p:cNvSpPr>
          <p:nvPr>
            <p:ph sz="half" idx="1"/>
          </p:nvPr>
        </p:nvSpPr>
        <p:spPr/>
        <p:txBody>
          <a:bodyPr>
            <a:normAutofit fontScale="92500"/>
          </a:bodyPr>
          <a:lstStyle/>
          <a:p>
            <a:pPr marL="0" indent="0">
              <a:buNone/>
            </a:pPr>
            <a:r>
              <a:rPr lang="en-US" dirty="0"/>
              <a:t>An output device is a hardware component or peripheral that displays or produces information from a computer or electronic system. Output devices allow the computer to convey processed data, results, or information to the user in a human-readable or perceivable </a:t>
            </a:r>
            <a:r>
              <a:rPr lang="en-US" dirty="0" smtClean="0"/>
              <a:t>form.</a:t>
            </a:r>
            <a:endParaRPr lang="en-IN" dirty="0"/>
          </a:p>
        </p:txBody>
      </p:sp>
      <p:pic>
        <p:nvPicPr>
          <p:cNvPr id="7171" name="Picture 3" descr="C:\Users\asus\AppData\Local\Microsoft\Windows\INetCache\IE\EN16CS69\audio_speakers_PNG11155[1].png"/>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5004048" y="1988840"/>
            <a:ext cx="2228056" cy="1871966"/>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5" descr="C:\Users\asus\AppData\Local\Microsoft\Windows\INetCache\IE\YR997YAY\2-printer-png-image[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0152" y="3573016"/>
            <a:ext cx="2473247" cy="2339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975246"/>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PRIMARY MEMORY</a:t>
            </a:r>
            <a:endParaRPr lang="en-IN" dirty="0"/>
          </a:p>
        </p:txBody>
      </p:sp>
      <p:sp>
        <p:nvSpPr>
          <p:cNvPr id="3" name="Content Placeholder 2"/>
          <p:cNvSpPr>
            <a:spLocks noGrp="1"/>
          </p:cNvSpPr>
          <p:nvPr>
            <p:ph sz="half" idx="1"/>
          </p:nvPr>
        </p:nvSpPr>
        <p:spPr/>
        <p:txBody>
          <a:bodyPr>
            <a:normAutofit/>
          </a:bodyPr>
          <a:lstStyle/>
          <a:p>
            <a:pPr marL="0" indent="0">
              <a:buNone/>
            </a:pPr>
            <a:r>
              <a:rPr lang="en-US" dirty="0"/>
              <a:t>Primary memory, often referred to as RAM (Random Access Memory), is a critical component in a computer system. It serves as the computer's main working memory and plays a fundamental role in the execution of programs and the management of data</a:t>
            </a:r>
            <a:endParaRPr lang="en-IN" dirty="0"/>
          </a:p>
        </p:txBody>
      </p:sp>
      <p:pic>
        <p:nvPicPr>
          <p:cNvPr id="2053" name="Picture 5" descr="C:\Users\asus\AppData\Local\Microsoft\Windows\INetCache\IE\DURA23GC\Main-memory-modules-from-server-980x651[1].jp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932040" y="2276872"/>
            <a:ext cx="2987040" cy="3024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7581133"/>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t>
            </a:r>
            <a:r>
              <a:rPr lang="en-US" dirty="0" smtClean="0"/>
              <a:t>             SECONDARY MEMORY</a:t>
            </a:r>
            <a:endParaRPr lang="en-IN" dirty="0"/>
          </a:p>
        </p:txBody>
      </p:sp>
      <p:sp>
        <p:nvSpPr>
          <p:cNvPr id="3" name="Content Placeholder 2"/>
          <p:cNvSpPr>
            <a:spLocks noGrp="1"/>
          </p:cNvSpPr>
          <p:nvPr>
            <p:ph sz="half" idx="1"/>
          </p:nvPr>
        </p:nvSpPr>
        <p:spPr/>
        <p:txBody>
          <a:bodyPr>
            <a:normAutofit fontScale="85000" lnSpcReduction="10000"/>
          </a:bodyPr>
          <a:lstStyle/>
          <a:p>
            <a:pPr marL="0" indent="0">
              <a:buNone/>
            </a:pPr>
            <a:r>
              <a:rPr lang="en-US" dirty="0"/>
              <a:t>Secondary memory, often referred to as "storage" in the context of a computer system, is a crucial component responsible for long-term data retention and mass storage of programs, files, and data. Unlike primary memory (RAM), which is volatile and temporary, secondary memory is non-volatile and retains data even when the computer is powered off.</a:t>
            </a:r>
            <a:endParaRPr lang="en-IN" dirty="0"/>
          </a:p>
        </p:txBody>
      </p:sp>
      <p:pic>
        <p:nvPicPr>
          <p:cNvPr id="3074" name="Picture 2" descr="C:\Users\asus\AppData\Local\Microsoft\Windows\INetCache\IE\NHB8IC5M\help00088[1].jp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4009" y="2060848"/>
            <a:ext cx="4074548" cy="3024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3050068"/>
      </p:ext>
    </p:extLst>
  </p:cSld>
  <p:clrMapOvr>
    <a:masterClrMapping/>
  </p:clrMapOvr>
  <mc:AlternateContent xmlns:mc="http://schemas.openxmlformats.org/markup-compatibility/2006">
    <mc:Choice xmlns:p14="http://schemas.microsoft.com/office/powerpoint/2010/main" Requires="p14">
      <p:transition spd="slow" p14:dur="2000">
        <p:wipe/>
      </p:transition>
    </mc:Choice>
    <mc:Fallback>
      <p:transition spd="slow">
        <p:wip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404664"/>
            <a:ext cx="8003232" cy="868958"/>
          </a:xfrm>
        </p:spPr>
        <p:txBody>
          <a:bodyPr>
            <a:normAutofit/>
          </a:bodyPr>
          <a:lstStyle/>
          <a:p>
            <a:r>
              <a:rPr lang="en-US" sz="4800" dirty="0"/>
              <a:t> </a:t>
            </a:r>
            <a:r>
              <a:rPr lang="en-US" sz="4800" dirty="0" smtClean="0"/>
              <a:t>          CACHE MEMORY</a:t>
            </a:r>
            <a:endParaRPr lang="en-IN" sz="4800" dirty="0"/>
          </a:p>
        </p:txBody>
      </p:sp>
      <p:sp>
        <p:nvSpPr>
          <p:cNvPr id="3" name="Content Placeholder 2"/>
          <p:cNvSpPr>
            <a:spLocks noGrp="1"/>
          </p:cNvSpPr>
          <p:nvPr>
            <p:ph sz="half" idx="1"/>
          </p:nvPr>
        </p:nvSpPr>
        <p:spPr>
          <a:xfrm>
            <a:off x="457200" y="1600201"/>
            <a:ext cx="4546848" cy="4525963"/>
          </a:xfrm>
        </p:spPr>
        <p:txBody>
          <a:bodyPr>
            <a:normAutofit fontScale="92500"/>
          </a:bodyPr>
          <a:lstStyle/>
          <a:p>
            <a:pPr marL="0" indent="0">
              <a:buNone/>
            </a:pPr>
            <a:r>
              <a:rPr lang="en-US" dirty="0"/>
              <a:t>Cache memory, often referred to simply as "cache," is a type of high-speed volatile computer memory that provides high-speed data access to a processor and stores frequently used computer programs, applications, and data. Caches are used to reduce data latency and improve overall computer performance</a:t>
            </a:r>
            <a:endParaRPr lang="en-IN" dirty="0"/>
          </a:p>
        </p:txBody>
      </p:sp>
      <p:pic>
        <p:nvPicPr>
          <p:cNvPr id="4098" name="Picture 2" descr="C:\Users\asus\AppData\Local\Microsoft\Windows\INetCache\IE\EN16CS69\r2Wic[1].pn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148064" y="2132856"/>
            <a:ext cx="3434228" cy="2592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3320819"/>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8229600" cy="1143000"/>
          </a:xfrm>
        </p:spPr>
        <p:txBody>
          <a:bodyPr>
            <a:normAutofit/>
          </a:bodyPr>
          <a:lstStyle/>
          <a:p>
            <a:r>
              <a:rPr lang="en-US" sz="4400" dirty="0"/>
              <a:t> </a:t>
            </a:r>
            <a:r>
              <a:rPr lang="en-US" sz="4400" dirty="0" smtClean="0"/>
              <a:t>            MOTHRBOARD</a:t>
            </a:r>
            <a:endParaRPr lang="en-IN" sz="4400" dirty="0"/>
          </a:p>
        </p:txBody>
      </p:sp>
      <p:sp>
        <p:nvSpPr>
          <p:cNvPr id="3" name="Content Placeholder 2"/>
          <p:cNvSpPr>
            <a:spLocks noGrp="1"/>
          </p:cNvSpPr>
          <p:nvPr>
            <p:ph idx="1"/>
          </p:nvPr>
        </p:nvSpPr>
        <p:spPr>
          <a:xfrm>
            <a:off x="611560" y="1916832"/>
            <a:ext cx="8075240" cy="3345236"/>
          </a:xfrm>
        </p:spPr>
        <p:txBody>
          <a:bodyPr>
            <a:normAutofit/>
          </a:bodyPr>
          <a:lstStyle/>
          <a:p>
            <a:pPr marL="0" indent="0">
              <a:buNone/>
            </a:pPr>
            <a:r>
              <a:rPr lang="en-US" dirty="0"/>
              <a:t>A motherboard, also known as a mainboard or system board, is a critical component in a computer system. It serves as the central hub that connects and facilitates communication between various hardware components, enabling the computer to function as a cohesive unit. The motherboard houses the CPU, memory, expansion slots, connectors, and more. </a:t>
            </a:r>
            <a:endParaRPr lang="en-IN" dirty="0"/>
          </a:p>
        </p:txBody>
      </p:sp>
      <p:pic>
        <p:nvPicPr>
          <p:cNvPr id="5122" name="Picture 2" descr="C:\Users\asus\AppData\Local\Microsoft\Windows\INetCache\IE\DURA23GC\MicroATX_Motherboard_with_AMD_Athlon_Processor_2_Digon3[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4128" y="4005064"/>
            <a:ext cx="2726447" cy="2514532"/>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descr="C:\Users\asus\AppData\Local\Microsoft\Windows\INetCache\IE\YR997YAY\PS2-SCPH-30001-Motherboard[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624" y="4243746"/>
            <a:ext cx="3490777" cy="227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4998535"/>
      </p:ext>
    </p:extLst>
  </p:cSld>
  <p:clrMapOvr>
    <a:masterClrMapping/>
  </p:clrMapOvr>
  <p:transition spd="slow">
    <p:pull/>
  </p:transition>
  <p:timing>
    <p:tnLst>
      <p:par>
        <p:cTn id="1" dur="indefinite" restart="never" nodeType="tmRoot"/>
      </p:par>
    </p:tnLst>
  </p:timing>
</p:sld>
</file>

<file path=ppt/theme/theme1.xml><?xml version="1.0" encoding="utf-8"?>
<a:theme xmlns:a="http://schemas.openxmlformats.org/drawingml/2006/main" name="Thatch">
  <a:themeElements>
    <a:clrScheme name="Thatch">
      <a:dk1>
        <a:sysClr val="windowText" lastClr="000000"/>
      </a:dk1>
      <a:lt1>
        <a:sysClr val="window" lastClr="FFFFFF"/>
      </a:lt1>
      <a:dk2>
        <a:srgbClr val="1D3641"/>
      </a:dk2>
      <a:lt2>
        <a:srgbClr val="DFE6D0"/>
      </a:lt2>
      <a:accent1>
        <a:srgbClr val="759AA5"/>
      </a:accent1>
      <a:accent2>
        <a:srgbClr val="CFC60D"/>
      </a:accent2>
      <a:accent3>
        <a:srgbClr val="99987F"/>
      </a:accent3>
      <a:accent4>
        <a:srgbClr val="90AC97"/>
      </a:accent4>
      <a:accent5>
        <a:srgbClr val="FFAD1C"/>
      </a:accent5>
      <a:accent6>
        <a:srgbClr val="B9AB6F"/>
      </a:accent6>
      <a:hlink>
        <a:srgbClr val="66AACD"/>
      </a:hlink>
      <a:folHlink>
        <a:srgbClr val="809DB3"/>
      </a:folHlink>
    </a:clrScheme>
    <a:fontScheme name="Median">
      <a:majorFont>
        <a:latin typeface="Tw Cen MT"/>
        <a:ea typeface=""/>
        <a:cs typeface=""/>
        <a:font script="Grek" typeface="Calibri"/>
        <a:font script="Cyrl" typeface="Calibri"/>
        <a:font script="Jpan" typeface="HG創英角ｺﾞｼｯｸUB"/>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創英角ｺﾞｼｯｸUB"/>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hatch">
      <a:fillStyleLst>
        <a:solidFill>
          <a:schemeClr val="phClr"/>
        </a:solidFill>
        <a:gradFill rotWithShape="1">
          <a:gsLst>
            <a:gs pos="0">
              <a:schemeClr val="phClr">
                <a:tint val="79000"/>
                <a:satMod val="180000"/>
              </a:schemeClr>
            </a:gs>
            <a:gs pos="65000">
              <a:schemeClr val="phClr">
                <a:tint val="52000"/>
                <a:satMod val="250000"/>
              </a:schemeClr>
            </a:gs>
            <a:gs pos="100000">
              <a:schemeClr val="phClr">
                <a:tint val="29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15875" cap="flat" cmpd="sng" algn="ctr">
          <a:solidFill>
            <a:schemeClr val="phClr"/>
          </a:solidFill>
          <a:prstDash val="solid"/>
        </a:ln>
        <a:ln w="38100" cap="flat" cmpd="sng" algn="ctr">
          <a:solidFill>
            <a:schemeClr val="phClr"/>
          </a:solidFill>
          <a:prstDash val="solid"/>
        </a:ln>
      </a:lnStyleLst>
      <a:effectStyleLst>
        <a:effectStyle>
          <a:effectLst>
            <a:outerShdw blurRad="63500" dist="25400" dir="5400000" rotWithShape="0">
              <a:srgbClr val="000000">
                <a:alpha val="43000"/>
              </a:srgbClr>
            </a:outerShdw>
          </a:effectLst>
        </a:effectStyle>
        <a:effectStyle>
          <a:effectLst>
            <a:outerShdw blurRad="63500" dist="25400" dir="5400000" rotWithShape="0">
              <a:srgbClr val="000000">
                <a:alpha val="43000"/>
              </a:srgbClr>
            </a:outerShdw>
          </a:effectLst>
          <a:scene3d>
            <a:camera prst="orthographicFront">
              <a:rot lat="0" lon="0" rev="0"/>
            </a:camera>
            <a:lightRig rig="brightRoom" dir="t">
              <a:rot lat="0" lon="0" rev="8700000"/>
            </a:lightRig>
          </a:scene3d>
          <a:sp3d contourW="12700" prstMaterial="dkEdge">
            <a:bevelT w="0" h="0" prst="relaxedInset"/>
            <a:contourClr>
              <a:schemeClr val="phClr">
                <a:shade val="65000"/>
                <a:satMod val="150000"/>
              </a:schemeClr>
            </a:contourClr>
          </a:sp3d>
        </a:effectStyle>
        <a:effectStyle>
          <a:effectLst>
            <a:outerShdw blurRad="63500" dist="25400" dir="5400000" rotWithShape="0">
              <a:srgbClr val="000000">
                <a:alpha val="43000"/>
              </a:srgbClr>
            </a:outerShdw>
          </a:effectLst>
          <a:scene3d>
            <a:camera prst="orthographicFront">
              <a:rot lat="0" lon="0" rev="0"/>
            </a:camera>
            <a:lightRig rig="glow" dir="t">
              <a:rot lat="0" lon="0" rev="13200000"/>
            </a:lightRig>
          </a:scene3d>
          <a:sp3d prstMaterial="dkEdge">
            <a:bevelT w="63500" h="50800" prst="relaxedInset"/>
          </a:sp3d>
        </a:effectStyle>
      </a:effectStyleLst>
      <a:bgFillStyleLst>
        <a:solidFill>
          <a:schemeClr val="phClr"/>
        </a:solidFill>
        <a:gradFill rotWithShape="1">
          <a:gsLst>
            <a:gs pos="0">
              <a:schemeClr val="phClr">
                <a:tint val="85000"/>
                <a:shade val="95000"/>
                <a:satMod val="200000"/>
              </a:schemeClr>
            </a:gs>
            <a:gs pos="53000">
              <a:schemeClr val="phClr">
                <a:shade val="60000"/>
                <a:satMod val="220000"/>
              </a:schemeClr>
            </a:gs>
            <a:gs pos="100000">
              <a:schemeClr val="phClr">
                <a:shade val="45000"/>
                <a:satMod val="220000"/>
              </a:schemeClr>
            </a:gs>
          </a:gsLst>
          <a:lin ang="16200000" scaled="0"/>
        </a:gradFill>
        <a:gradFill rotWithShape="1">
          <a:gsLst>
            <a:gs pos="0">
              <a:schemeClr val="phClr">
                <a:tint val="83000"/>
                <a:shade val="97000"/>
                <a:satMod val="230000"/>
              </a:schemeClr>
            </a:gs>
            <a:gs pos="100000">
              <a:schemeClr val="phClr">
                <a:shade val="35000"/>
                <a:satMod val="250000"/>
              </a:schemeClr>
            </a:gs>
          </a:gsLst>
          <a:path path="circle">
            <a:fillToRect l="15000" t="50000" r="85000" b="6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Thatch</Template>
  <TotalTime>77</TotalTime>
  <Words>743</Words>
  <Application>Microsoft Office PowerPoint</Application>
  <PresentationFormat>On-screen Show (4:3)</PresentationFormat>
  <Paragraphs>50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Thatch</vt:lpstr>
      <vt:lpstr>CPU</vt:lpstr>
      <vt:lpstr> INTRODUCTION OF CPU</vt:lpstr>
      <vt:lpstr>             HISTORY OF CPU</vt:lpstr>
      <vt:lpstr>BLOCK DIGRAM OF CPU</vt:lpstr>
      <vt:lpstr>      COMPONENTS OF CPU</vt:lpstr>
      <vt:lpstr>          CONTROL UNIT(CU)</vt:lpstr>
      <vt:lpstr>    ARTHEMATIC AND LOGIC UNIT(ALU)</vt:lpstr>
      <vt:lpstr>                REGISTERS</vt:lpstr>
      <vt:lpstr>           INPUT DEVICE</vt:lpstr>
      <vt:lpstr>        OUTPUT DEVICE</vt:lpstr>
      <vt:lpstr>              PRIMARY MEMORY</vt:lpstr>
      <vt:lpstr>              SECONDARY MEMORY</vt:lpstr>
      <vt:lpstr>           CACHE MEMORY</vt:lpstr>
      <vt:lpstr>             MOTHRBOARD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CPU</dc:title>
  <dc:creator>asus</dc:creator>
  <cp:lastModifiedBy>asus</cp:lastModifiedBy>
  <cp:revision>8</cp:revision>
  <dcterms:created xsi:type="dcterms:W3CDTF">2023-11-08T12:01:38Z</dcterms:created>
  <dcterms:modified xsi:type="dcterms:W3CDTF">2023-11-08T13:18:44Z</dcterms:modified>
</cp:coreProperties>
</file>